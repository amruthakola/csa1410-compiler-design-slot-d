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359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topic: the role of the lexical analyzer in a 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868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Lexical Analyzer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Design – CSA1410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12987" y="3474721"/>
            <a:ext cx="3138792" cy="1012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N. 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Divider"/>
          <p:cNvSpPr/>
          <p:nvPr/>
        </p:nvSpPr>
        <p:spPr>
          <a:xfrm>
            <a:off x="295721" y="3474720"/>
            <a:ext cx="8046720" cy="0"/>
          </a:xfrm>
          <a:prstGeom prst="line">
            <a:avLst/>
          </a:prstGeom>
          <a:noFill/>
          <a:ln w="12700">
            <a:solidFill>
              <a:srgbClr val="3B5B8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 txBox="1"/>
          <p:nvPr/>
        </p:nvSpPr>
        <p:spPr>
          <a:xfrm>
            <a:off x="596630" y="3474720"/>
            <a:ext cx="27626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Amrutha Sandhya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192524270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Lexical Analyzer?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phase of a compiler, also called the scanner or lexer.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source program as a stream of characters.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characters into meaningful units called lexemes and produces tokens.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interface between the source code and the parser.</a:t>
            </a:r>
            <a:endParaRPr lang="en-US" sz="1800" dirty="0"/>
          </a:p>
        </p:txBody>
      </p:sp>
      <p:sp>
        <p:nvSpPr>
          <p:cNvPr id="7" name="Example card"/>
          <p:cNvSpPr/>
          <p:nvPr/>
        </p:nvSpPr>
        <p:spPr>
          <a:xfrm>
            <a:off x="5577840" y="1234440"/>
            <a:ext cx="3017520" cy="2651760"/>
          </a:xfrm>
          <a:prstGeom prst="roundRect">
            <a:avLst>
              <a:gd name="adj" fmla="val 4138"/>
            </a:avLst>
          </a:prstGeom>
          <a:solidFill>
            <a:srgbClr val="F3F7FA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 = a + 10;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286000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2860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Roles of Lexical Analyzer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Role row a"/>
          <p:cNvSpPr/>
          <p:nvPr/>
        </p:nvSpPr>
        <p:spPr>
          <a:xfrm>
            <a:off x="548640" y="105156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3F7FA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7" name="Badge a"/>
          <p:cNvSpPr/>
          <p:nvPr/>
        </p:nvSpPr>
        <p:spPr>
          <a:xfrm>
            <a:off x="685800" y="1143000"/>
            <a:ext cx="411480" cy="411480"/>
          </a:xfrm>
          <a:prstGeom prst="ellipse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05156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source code</a:t>
            </a:r>
            <a:endParaRPr lang="en-US" sz="2000" dirty="0"/>
          </a:p>
        </p:txBody>
      </p:sp>
      <p:sp>
        <p:nvSpPr>
          <p:cNvPr id="10" name="Role row b"/>
          <p:cNvSpPr/>
          <p:nvPr/>
        </p:nvSpPr>
        <p:spPr>
          <a:xfrm>
            <a:off x="548640" y="1764792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3F7FA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11" name="Badge b"/>
          <p:cNvSpPr/>
          <p:nvPr/>
        </p:nvSpPr>
        <p:spPr>
          <a:xfrm>
            <a:off x="685800" y="1856232"/>
            <a:ext cx="411480" cy="411480"/>
          </a:xfrm>
          <a:prstGeom prst="ellipse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1764792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into tokens</a:t>
            </a:r>
            <a:endParaRPr lang="en-US" sz="2000" dirty="0"/>
          </a:p>
        </p:txBody>
      </p:sp>
      <p:sp>
        <p:nvSpPr>
          <p:cNvPr id="14" name="Role row c"/>
          <p:cNvSpPr/>
          <p:nvPr/>
        </p:nvSpPr>
        <p:spPr>
          <a:xfrm>
            <a:off x="548640" y="2478024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3F7FA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15" name="Badge c"/>
          <p:cNvSpPr/>
          <p:nvPr/>
        </p:nvSpPr>
        <p:spPr>
          <a:xfrm>
            <a:off x="685800" y="2569464"/>
            <a:ext cx="411480" cy="411480"/>
          </a:xfrm>
          <a:prstGeom prst="ellipse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569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478024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unnecessary characters</a:t>
            </a:r>
            <a:endParaRPr lang="en-US" sz="2000" dirty="0"/>
          </a:p>
        </p:txBody>
      </p:sp>
      <p:sp>
        <p:nvSpPr>
          <p:cNvPr id="18" name="Role row d"/>
          <p:cNvSpPr/>
          <p:nvPr/>
        </p:nvSpPr>
        <p:spPr>
          <a:xfrm>
            <a:off x="548640" y="3191256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3F7FA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19" name="Badge d"/>
          <p:cNvSpPr/>
          <p:nvPr/>
        </p:nvSpPr>
        <p:spPr>
          <a:xfrm>
            <a:off x="685800" y="3282696"/>
            <a:ext cx="411480" cy="411480"/>
          </a:xfrm>
          <a:prstGeom prst="ellipse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282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191256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tokens to parser</a:t>
            </a:r>
            <a:endParaRPr lang="en-US" sz="2000" dirty="0"/>
          </a:p>
        </p:txBody>
      </p:sp>
      <p:sp>
        <p:nvSpPr>
          <p:cNvPr id="22" name="Role row e"/>
          <p:cNvSpPr/>
          <p:nvPr/>
        </p:nvSpPr>
        <p:spPr>
          <a:xfrm>
            <a:off x="548640" y="3904488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3F7FA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23" name="Badge e"/>
          <p:cNvSpPr/>
          <p:nvPr/>
        </p:nvSpPr>
        <p:spPr>
          <a:xfrm>
            <a:off x="685800" y="3995928"/>
            <a:ext cx="411480" cy="411480"/>
          </a:xfrm>
          <a:prstGeom prst="ellipse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90448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lexical errors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Scans Source Code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Tx/>
              <a:buChar char="•"/>
            </a:pPr>
            <a:r>
              <a:rPr lang="en-IN" dirty="0"/>
              <a:t>The first role is scanning the source code.</a:t>
            </a:r>
            <a:endParaRPr lang="en-IN" b="1" dirty="0"/>
          </a:p>
          <a:p>
            <a:pPr marL="342900" indent="-342900">
              <a:spcAft>
                <a:spcPts val="1200"/>
              </a:spcAft>
              <a:buSzPct val="100000"/>
              <a:buFontTx/>
              <a:buChar char="•"/>
            </a:pPr>
            <a:r>
              <a:rPr lang="en-IN" dirty="0"/>
              <a:t>The lexical </a:t>
            </a:r>
            <a:r>
              <a:rPr lang="en-IN" dirty="0" err="1"/>
              <a:t>analyzer</a:t>
            </a:r>
            <a:r>
              <a:rPr lang="en-IN" dirty="0"/>
              <a:t> reads the program from left to right, one character at a time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input buffer (with lookahead) for fast reading.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current position and line number.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compilation process by feeding raw text.</a:t>
            </a:r>
            <a:endParaRPr lang="en-US" sz="1800" dirty="0"/>
          </a:p>
        </p:txBody>
      </p:sp>
      <p:sp>
        <p:nvSpPr>
          <p:cNvPr id="7" name="Example card"/>
          <p:cNvSpPr/>
          <p:nvPr/>
        </p:nvSpPr>
        <p:spPr>
          <a:xfrm>
            <a:off x="5715000" y="1234440"/>
            <a:ext cx="2880360" cy="2194560"/>
          </a:xfrm>
          <a:prstGeom prst="roundRect">
            <a:avLst>
              <a:gd name="adj" fmla="val 5000"/>
            </a:avLst>
          </a:prstGeom>
          <a:solidFill>
            <a:srgbClr val="F3F7FA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371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stream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7830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n t   x = 5 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scanning left to right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Converts into Tokens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4937760" cy="2397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Tx/>
              <a:buChar char="•"/>
            </a:pPr>
            <a:r>
              <a:rPr lang="en-IN" dirty="0"/>
              <a:t>The second role is converting the source code into tokens. This process is called tokenization.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•"/>
            </a:pPr>
            <a:r>
              <a:rPr lang="en-IN" dirty="0"/>
              <a:t>The lexical </a:t>
            </a:r>
            <a:r>
              <a:rPr lang="en-IN" dirty="0" err="1"/>
              <a:t>analyzer</a:t>
            </a:r>
            <a:r>
              <a:rPr lang="en-IN" dirty="0"/>
              <a:t> identifies each element and classifies it according to its type. 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•"/>
            </a:pPr>
            <a:r>
              <a:rPr lang="en-IN" dirty="0"/>
              <a:t>This makes it easier for the parser to understand the code.</a:t>
            </a:r>
            <a:endParaRPr lang="en-US" sz="18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Example card"/>
          <p:cNvSpPr/>
          <p:nvPr/>
        </p:nvSpPr>
        <p:spPr>
          <a:xfrm>
            <a:off x="5715000" y="1234440"/>
            <a:ext cx="2880360" cy="2194560"/>
          </a:xfrm>
          <a:prstGeom prst="roundRect">
            <a:avLst>
              <a:gd name="adj" fmla="val 5000"/>
            </a:avLst>
          </a:prstGeom>
          <a:solidFill>
            <a:srgbClr val="F3F7FA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371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Lexeme → Token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7830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 → &lt;id, 1&gt;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 → &lt;assign&gt;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→ &lt;num, 5&gt;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→ &lt;semicolon&gt;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Removes Unnecessary Characters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third role is removing unnecessary characters.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lexical </a:t>
            </a:r>
            <a:r>
              <a:rPr lang="en-IN" dirty="0" err="1"/>
              <a:t>analyzer</a:t>
            </a:r>
            <a:r>
              <a:rPr lang="en-IN" dirty="0"/>
              <a:t> generally ignores extra spaces, tabs.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Removes comments from the source program.</a:t>
            </a:r>
            <a:endParaRPr lang="en-US" sz="1800" dirty="0"/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Keeps only meaningful symbols.</a:t>
            </a:r>
            <a:endParaRPr lang="en-US" sz="1800" dirty="0"/>
          </a:p>
        </p:txBody>
      </p:sp>
      <p:sp>
        <p:nvSpPr>
          <p:cNvPr id="7" name="Example card"/>
          <p:cNvSpPr/>
          <p:nvPr/>
        </p:nvSpPr>
        <p:spPr>
          <a:xfrm>
            <a:off x="5715000" y="1234440"/>
            <a:ext cx="2880360" cy="2194560"/>
          </a:xfrm>
          <a:prstGeom prst="roundRect">
            <a:avLst>
              <a:gd name="adj" fmla="val 5000"/>
            </a:avLst>
          </a:prstGeom>
          <a:solidFill>
            <a:srgbClr val="F3F7FA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371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7830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5; // set x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becomes: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 ;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Passes Tokens to Parser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IN" dirty="0"/>
              <a:t>The fourth role is passing tokens to the parser.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After identifying the tokens, the lexical </a:t>
            </a:r>
            <a:r>
              <a:rPr lang="en-IN" dirty="0" err="1"/>
              <a:t>analyzer</a:t>
            </a:r>
            <a:r>
              <a:rPr lang="en-IN" dirty="0"/>
              <a:t> sends them to the parser, also called the syntax </a:t>
            </a:r>
            <a:r>
              <a:rPr lang="en-IN" dirty="0" err="1"/>
              <a:t>analyzer</a:t>
            </a:r>
            <a:r>
              <a:rPr lang="en-IN" dirty="0"/>
              <a:t>.</a:t>
            </a:r>
            <a:endParaRPr lang="en-US" sz="18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one token at a time to the syntax analyzer.</a:t>
            </a:r>
            <a:endParaRPr lang="en-US" sz="1800" dirty="0"/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Interacts with the symbol table to store identifier details.</a:t>
            </a:r>
            <a:endParaRPr lang="en-US" sz="1800" dirty="0"/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uses the tokens to build the syntax tree.</a:t>
            </a:r>
            <a:endParaRPr lang="en-US" sz="1800" dirty="0"/>
          </a:p>
        </p:txBody>
      </p:sp>
      <p:sp>
        <p:nvSpPr>
          <p:cNvPr id="7" name="Example card"/>
          <p:cNvSpPr/>
          <p:nvPr/>
        </p:nvSpPr>
        <p:spPr>
          <a:xfrm>
            <a:off x="5715000" y="1234440"/>
            <a:ext cx="2880360" cy="2194560"/>
          </a:xfrm>
          <a:prstGeom prst="roundRect">
            <a:avLst>
              <a:gd name="adj" fmla="val 5000"/>
            </a:avLst>
          </a:prstGeom>
          <a:solidFill>
            <a:srgbClr val="F3F7FA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371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7830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getNextToken()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returns token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Handles Lexical Errors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IN" dirty="0"/>
              <a:t>he fifth role is handling lexical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Sometimes, the source code contains invalid characters or incorrectly formed tokens.</a:t>
            </a:r>
            <a:endParaRPr lang="en-US" sz="18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the error with its line number.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using panic mode: skip characters until a valid token is found.</a:t>
            </a:r>
            <a:endParaRPr lang="en-US" sz="1800" dirty="0"/>
          </a:p>
          <a:p>
            <a:pPr>
              <a:spcAft>
                <a:spcPts val="1200"/>
              </a:spcAft>
              <a:buSzPct val="100000"/>
            </a:pPr>
            <a:endParaRPr lang="en-US" sz="1800" dirty="0"/>
          </a:p>
        </p:txBody>
      </p:sp>
      <p:sp>
        <p:nvSpPr>
          <p:cNvPr id="7" name="Example card"/>
          <p:cNvSpPr/>
          <p:nvPr/>
        </p:nvSpPr>
        <p:spPr>
          <a:xfrm>
            <a:off x="5715000" y="1234440"/>
            <a:ext cx="2880360" cy="2194560"/>
          </a:xfrm>
          <a:prstGeom prst="roundRect">
            <a:avLst>
              <a:gd name="adj" fmla="val 5000"/>
            </a:avLst>
          </a:prstGeom>
          <a:solidFill>
            <a:srgbClr val="F3F7FA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371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examples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7830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2abc = 5;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^ invalid identifier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 @ 3;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2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^ illegal symbol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ole of Lexical Analyzer&#10;&#10;AI-generated content may be incorrect.">
            <a:extLst>
              <a:ext uri="{FF2B5EF4-FFF2-40B4-BE49-F238E27FC236}">
                <a16:creationId xmlns:a16="http://schemas.microsoft.com/office/drawing/2014/main" id="{93E7B731-98C1-C3F5-9C3D-E9B20B572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1" y="0"/>
            <a:ext cx="903375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710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9C1B07-4EBF-4A80-B931-692A120817DE}"/>
              </a:ext>
            </a:extLst>
          </p:cNvPr>
          <p:cNvSpPr txBox="1"/>
          <p:nvPr/>
        </p:nvSpPr>
        <p:spPr>
          <a:xfrm>
            <a:off x="2010383" y="1368356"/>
            <a:ext cx="55447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105520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515</Words>
  <Application>Microsoft Office PowerPoint</Application>
  <PresentationFormat>On-screen Show (16:9)</PresentationFormat>
  <Paragraphs>111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of Lexical Analyzer</dc:title>
  <dc:subject>PptxGenJS Presentation</dc:subject>
  <dc:creator>K. Amrutha Sandhya</dc:creator>
  <cp:lastModifiedBy>Amrutha Sandhya Kola</cp:lastModifiedBy>
  <cp:revision>11</cp:revision>
  <dcterms:created xsi:type="dcterms:W3CDTF">2026-10-13T06:39:49Z</dcterms:created>
  <dcterms:modified xsi:type="dcterms:W3CDTF">2026-10-13T08:13:49Z</dcterms:modified>
</cp:coreProperties>
</file>